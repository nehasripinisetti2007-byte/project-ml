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2" r:id="rId16"/>
    <p:sldId id="269" r:id="rId17"/>
    <p:sldId id="270" r:id="rId18"/>
    <p:sldId id="271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itya_title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39" y="548640"/>
            <a:ext cx="4233672" cy="846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A580C"/>
                </a:solidFill>
                <a:latin typeface="Calibri" panose="020F0502020204030204"/>
              </a:defRPr>
            </a:pPr>
            <a:r>
              <a:t>Fake News Detection System</a:t>
            </a:r>
          </a:p>
          <a:p>
            <a:pPr algn="ctr">
              <a:defRPr sz="2400" b="1">
                <a:solidFill>
                  <a:srgbClr val="EA580C"/>
                </a:solidFill>
                <a:latin typeface="Calibri" panose="020F0502020204030204"/>
              </a:defRPr>
            </a:pPr>
            <a:r>
              <a:t>Using Multi-Model Machine Learning and 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4484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3B68"/>
                </a:solidFill>
                <a:latin typeface="Calibri" panose="020F0502020204030204"/>
              </a:defRPr>
            </a:pPr>
            <a:r>
              <a:t>Machine Learning (241AI024)  |  Department of AIML  |  Final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56432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Calibri" panose="020F0502020204030204"/>
              </a:defRPr>
            </a:pPr>
            <a:r>
              <a:t>Team Members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" y="3840480"/>
            <a:ext cx="1965960" cy="1005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3950208"/>
            <a:ext cx="19659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1E293B"/>
                </a:solidFill>
                <a:latin typeface="Calibri" panose="020F0502020204030204"/>
              </a:defRPr>
            </a:pPr>
            <a:r>
              <a:t>P. Nehasri</a:t>
            </a:r>
          </a:p>
          <a:p>
            <a:pPr algn="ctr">
              <a:defRPr sz="1150">
                <a:solidFill>
                  <a:srgbClr val="64748B"/>
                </a:solidFill>
                <a:latin typeface="Calibri" panose="020F0502020204030204"/>
              </a:defRPr>
            </a:pPr>
            <a:r>
              <a:t>24B11AI346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62656" y="3840480"/>
            <a:ext cx="1965960" cy="1005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2656" y="3950208"/>
            <a:ext cx="19659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1E293B"/>
                </a:solidFill>
                <a:latin typeface="Calibri" panose="020F0502020204030204"/>
              </a:defRPr>
            </a:pPr>
            <a:r>
              <a:t>M. Nithin</a:t>
            </a:r>
          </a:p>
          <a:p>
            <a:pPr algn="ctr">
              <a:defRPr sz="1150">
                <a:solidFill>
                  <a:srgbClr val="64748B"/>
                </a:solidFill>
                <a:latin typeface="Calibri" panose="020F0502020204030204"/>
              </a:defRPr>
            </a:pPr>
            <a:r>
              <a:t>24B11AI226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1496" y="3840480"/>
            <a:ext cx="1965960" cy="1005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11496" y="3950208"/>
            <a:ext cx="19659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1E293B"/>
                </a:solidFill>
                <a:latin typeface="Calibri" panose="020F0502020204030204"/>
              </a:defRPr>
            </a:pPr>
            <a:r>
              <a:t>K. Vikas</a:t>
            </a:r>
          </a:p>
          <a:p>
            <a:pPr algn="ctr">
              <a:defRPr sz="1150">
                <a:solidFill>
                  <a:srgbClr val="64748B"/>
                </a:solidFill>
                <a:latin typeface="Calibri" panose="020F0502020204030204"/>
              </a:defRPr>
            </a:pPr>
            <a:r>
              <a:t>24B11AI190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3840480"/>
            <a:ext cx="1965960" cy="1005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0336" y="3950208"/>
            <a:ext cx="19659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1E293B"/>
                </a:solidFill>
                <a:latin typeface="Calibri" panose="020F0502020204030204"/>
              </a:defRPr>
            </a:pPr>
            <a:r>
              <a:t>R. Pranathi</a:t>
            </a:r>
          </a:p>
          <a:p>
            <a:pPr algn="ctr">
              <a:defRPr sz="1150">
                <a:solidFill>
                  <a:srgbClr val="64748B"/>
                </a:solidFill>
                <a:latin typeface="Calibri" panose="020F0502020204030204"/>
              </a:defRPr>
            </a:pPr>
            <a:r>
              <a:t>24B11AI365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09176" y="3840480"/>
            <a:ext cx="1965960" cy="1005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9176" y="3950208"/>
            <a:ext cx="19659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1E293B"/>
                </a:solidFill>
                <a:latin typeface="Calibri" panose="020F0502020204030204"/>
              </a:defRPr>
            </a:pPr>
            <a:r>
              <a:t>Y. Chakradhar</a:t>
            </a:r>
          </a:p>
          <a:p>
            <a:pPr algn="ctr">
              <a:defRPr sz="1150">
                <a:solidFill>
                  <a:srgbClr val="64748B"/>
                </a:solidFill>
                <a:latin typeface="Calibri" panose="020F0502020204030204"/>
              </a:defRPr>
            </a:pPr>
            <a:r>
              <a:t>24B11AI462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38247" y="5212080"/>
            <a:ext cx="7315200" cy="685800"/>
          </a:xfrm>
          <a:prstGeom prst="roundRect">
            <a:avLst/>
          </a:prstGeom>
          <a:solidFill>
            <a:srgbClr val="FFF1E6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8247" y="530352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1E293B"/>
                </a:solidFill>
                <a:latin typeface="Calibri" panose="020F0502020204030204"/>
              </a:rPr>
              <a:t>Guide: </a:t>
            </a:r>
            <a:r>
              <a:rPr sz="1300" b="1">
                <a:solidFill>
                  <a:srgbClr val="0F3B68"/>
                </a:solidFill>
                <a:latin typeface="Calibri" panose="020F0502020204030204"/>
              </a:rPr>
              <a:t>P. Venkata Bala Annapurna, M.Tech (Ph.D)
</a:t>
            </a:r>
            <a:r>
              <a:rPr sz="1150">
                <a:solidFill>
                  <a:srgbClr val="1E293B"/>
                </a:solidFill>
                <a:latin typeface="Calibri" panose="020F0502020204030204"/>
              </a:rPr>
              <a:t>Asst. Professor, Department of AIML</a:t>
            </a:r>
            <a:endParaRPr sz="1150">
              <a:solidFill>
                <a:srgbClr val="1E293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itya_corner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65760"/>
            <a:ext cx="169164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4048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A580C"/>
                </a:solidFill>
                <a:latin typeface="Calibri" panose="020F0502020204030204"/>
              </a:defRPr>
            </a:pPr>
            <a: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766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 b="1">
                <a:solidFill>
                  <a:srgbClr val="1E293B"/>
                </a:solidFill>
              </a:rPr>
              <a:t>•  The Goal: </a:t>
            </a:r>
            <a:r>
              <a:rPr sz="1400">
                <a:solidFill>
                  <a:srgbClr val="1E293B"/>
                </a:solidFill>
              </a:rPr>
              <a:t>Automatically detect whether an online news article or headline is REAL or FAKE before it spreads.</a:t>
            </a:r>
            <a:endParaRPr sz="1400">
              <a:solidFill>
                <a:srgbClr val="1E293B"/>
              </a:solidFill>
            </a:endParaRP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1E293B"/>
                </a:solidFill>
              </a:rPr>
              <a:t>•  Multi-Model Approach: </a:t>
            </a:r>
            <a:r>
              <a:rPr sz="1400">
                <a:solidFill>
                  <a:srgbClr val="1E293B"/>
                </a:solidFill>
              </a:rPr>
              <a:t>Combines 3 proven Machine Learning algorithms (Linear SVM, Logistic Regression, Random Forest) for reliable consensus.</a:t>
            </a:r>
            <a:endParaRPr sz="1400">
              <a:solidFill>
                <a:srgbClr val="1E293B"/>
              </a:solidFill>
            </a:endParaRP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1E293B"/>
                </a:solidFill>
              </a:rPr>
              <a:t>•  Large-Scale Dataset: </a:t>
            </a:r>
            <a:r>
              <a:rPr sz="1400">
                <a:solidFill>
                  <a:srgbClr val="1E293B"/>
                </a:solidFill>
              </a:rPr>
              <a:t>Trained and tested on 44,898 benchmark articles from the ISOT dataset and modern viral scams.</a:t>
            </a:r>
            <a:endParaRPr sz="1400">
              <a:solidFill>
                <a:srgbClr val="1E293B"/>
              </a:solidFill>
            </a:endParaRP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1E293B"/>
                </a:solidFill>
              </a:rPr>
              <a:t>•  High Accuracy: </a:t>
            </a:r>
            <a:r>
              <a:rPr sz="1400">
                <a:solidFill>
                  <a:srgbClr val="1E293B"/>
                </a:solidFill>
              </a:rPr>
              <a:t>Achieves 99.07% accuracy with sub-second response time (&lt; 40 milliseconds).</a:t>
            </a:r>
            <a:endParaRPr sz="1400">
              <a:solidFill>
                <a:srgbClr val="1E293B"/>
              </a:solidFill>
            </a:endParaRP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1E293B"/>
                </a:solidFill>
              </a:rPr>
              <a:t>•  Easy Explainability: </a:t>
            </a:r>
            <a:r>
              <a:rPr sz="1400">
                <a:solidFill>
                  <a:srgbClr val="1E293B"/>
                </a:solidFill>
              </a:rPr>
              <a:t>Features a simple 0 to 100% Credibility Speedometer so ordinary users can easily understand the verdict.</a:t>
            </a:r>
            <a:endParaRPr sz="1400">
              <a:solidFill>
                <a:srgbClr val="1E293B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863840" y="1371600"/>
            <a:ext cx="356616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46304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A580C"/>
                </a:solidFill>
              </a:defRPr>
            </a:pPr>
            <a:r>
              <a:t>44,898</a:t>
            </a:r>
          </a:p>
          <a:p>
            <a:pPr>
              <a:defRPr sz="1200" b="1">
                <a:solidFill>
                  <a:srgbClr val="0F3B68"/>
                </a:solidFill>
              </a:defRPr>
            </a:pPr>
            <a:r>
              <a:t>Articles Evaluated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Balanced Real &amp; Fake news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560320"/>
            <a:ext cx="356616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65176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A580C"/>
                </a:solidFill>
              </a:defRPr>
            </a:pPr>
            <a:r>
              <a:t>99.07%</a:t>
            </a:r>
          </a:p>
          <a:p>
            <a:pPr>
              <a:defRPr sz="1200" b="1">
                <a:solidFill>
                  <a:srgbClr val="0F3B68"/>
                </a:solidFill>
              </a:defRPr>
            </a:pPr>
            <a:r>
              <a:t>Classification Accuracy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Optimal Linear SVM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749040"/>
            <a:ext cx="356616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384048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A580C"/>
                </a:solidFill>
              </a:defRPr>
            </a:pPr>
            <a:r>
              <a:t>3 Models</a:t>
            </a:r>
          </a:p>
          <a:p>
            <a:pPr>
              <a:defRPr sz="1200" b="1">
                <a:solidFill>
                  <a:srgbClr val="0F3B68"/>
                </a:solidFill>
              </a:defRPr>
            </a:pPr>
            <a:r>
              <a:t>Consensus Voting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SVM + Logistic Reg. + Random Forest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937760"/>
            <a:ext cx="356616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502920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A580C"/>
                </a:solidFill>
              </a:defRPr>
            </a:pPr>
            <a:r>
              <a:t>&lt; 40ms</a:t>
            </a:r>
          </a:p>
          <a:p>
            <a:pPr>
              <a:defRPr sz="1200" b="1">
                <a:solidFill>
                  <a:srgbClr val="0F3B68"/>
                </a:solidFill>
              </a:defRPr>
            </a:pPr>
            <a:r>
              <a:t>Instant Real-Time Speed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Fast prediction on any web article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itya_corner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65760"/>
            <a:ext cx="169164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4048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A580C"/>
                </a:solidFill>
                <a:latin typeface="Calibri" panose="020F0502020204030204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766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 b="1">
                <a:solidFill>
                  <a:srgbClr val="1E293B"/>
                </a:solidFill>
              </a:rPr>
              <a:t>•  Social Media Growth: </a:t>
            </a:r>
            <a:r>
              <a:rPr sz="1400">
                <a:solidFill>
                  <a:srgbClr val="1E293B"/>
                </a:solidFill>
              </a:rPr>
              <a:t>Over 5 billion people read news daily on WhatsApp, Twitter, and Facebook without editorial fact-checking.</a:t>
            </a:r>
            <a:endParaRPr sz="1400">
              <a:solidFill>
                <a:srgbClr val="1E293B"/>
              </a:solidFill>
            </a:endParaRP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1E293B"/>
                </a:solidFill>
              </a:rPr>
              <a:t>•  Types of Misinformation: </a:t>
            </a:r>
            <a:r>
              <a:rPr sz="1400">
                <a:solidFill>
                  <a:srgbClr val="1E293B"/>
                </a:solidFill>
              </a:rPr>
              <a:t>Includes sensational clickbait, false political claims, fake health cures, and online financial scams.</a:t>
            </a:r>
            <a:endParaRPr sz="1400">
              <a:solidFill>
                <a:srgbClr val="1E293B"/>
              </a:solidFill>
            </a:endParaRP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1E293B"/>
                </a:solidFill>
              </a:rPr>
              <a:t>•  Human Checking Fails: </a:t>
            </a:r>
            <a:r>
              <a:rPr sz="1400">
                <a:solidFill>
                  <a:srgbClr val="1E293B"/>
                </a:solidFill>
              </a:rPr>
              <a:t>Manual fact-checking takes hours or days. By that time, false news has already reached millions of users.</a:t>
            </a:r>
            <a:endParaRPr sz="1400">
              <a:solidFill>
                <a:srgbClr val="1E293B"/>
              </a:solidFill>
            </a:endParaRP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1E293B"/>
                </a:solidFill>
              </a:rPr>
              <a:t>•  The AI Solution: </a:t>
            </a:r>
            <a:r>
              <a:rPr sz="1400">
                <a:solidFill>
                  <a:srgbClr val="1E293B"/>
                </a:solidFill>
              </a:rPr>
              <a:t>Machine learning can analyze text patterns and linguistic cues in milliseconds to flag fake news automatically.</a:t>
            </a:r>
            <a:endParaRPr sz="1400">
              <a:solidFill>
                <a:srgbClr val="1E293B"/>
              </a:solidFill>
            </a:endParaRP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1E293B"/>
                </a:solidFill>
              </a:rPr>
              <a:t>•  Project Objective: </a:t>
            </a:r>
            <a:r>
              <a:rPr sz="1400">
                <a:solidFill>
                  <a:srgbClr val="1E293B"/>
                </a:solidFill>
              </a:rPr>
              <a:t>Build an accurate, transparent, and easy-to-use tool that checks news credibility in real time.</a:t>
            </a:r>
            <a:endParaRPr sz="1400">
              <a:solidFill>
                <a:srgbClr val="1E293B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863840" y="1371600"/>
            <a:ext cx="3566160" cy="4846320"/>
          </a:xfrm>
          <a:prstGeom prst="roundRect">
            <a:avLst/>
          </a:prstGeom>
          <a:solidFill>
            <a:srgbClr val="FFF1E6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A580C"/>
                </a:solidFill>
              </a:defRPr>
            </a:pPr>
            <a:r>
              <a:t>Why Fake News Spreads</a:t>
            </a:r>
          </a:p>
          <a:p>
            <a:pPr>
              <a:spcBef>
                <a:spcPts val="1200"/>
              </a:spcBef>
            </a:pPr>
            <a:r>
              <a:rPr sz="1250" b="1">
                <a:solidFill>
                  <a:srgbClr val="1E293B"/>
                </a:solidFill>
              </a:rPr>
              <a:t>•  6x Faster Spread: </a:t>
            </a:r>
            <a:r>
              <a:rPr sz="1150">
                <a:solidFill>
                  <a:srgbClr val="1E293B"/>
                </a:solidFill>
              </a:rPr>
              <a:t>False news diffuses 6 times faster than authentic news online (MIT Science Study).</a:t>
            </a:r>
            <a:endParaRPr sz="115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250" b="1">
                <a:solidFill>
                  <a:srgbClr val="1E293B"/>
                </a:solidFill>
              </a:rPr>
              <a:t>•  70% More Retweets: </a:t>
            </a:r>
            <a:r>
              <a:rPr sz="1150">
                <a:solidFill>
                  <a:srgbClr val="1E293B"/>
                </a:solidFill>
              </a:rPr>
              <a:t>People retweet sensational and shocking stories far more than factual updates.</a:t>
            </a:r>
            <a:endParaRPr sz="115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250" b="1">
                <a:solidFill>
                  <a:srgbClr val="1E293B"/>
                </a:solidFill>
              </a:rPr>
              <a:t>•  Emotional Triggers: </a:t>
            </a:r>
            <a:r>
              <a:rPr sz="1150">
                <a:solidFill>
                  <a:srgbClr val="1E293B"/>
                </a:solidFill>
              </a:rPr>
              <a:t>Uses urgent words like 'URGENT!!', 'SHOCKING!!', and 'ACT NOW!!' to trigger panic.</a:t>
            </a:r>
            <a:endParaRPr sz="115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250" b="1">
                <a:solidFill>
                  <a:srgbClr val="1E293B"/>
                </a:solidFill>
              </a:rPr>
              <a:t>•  Need for Fast AI: </a:t>
            </a:r>
            <a:r>
              <a:rPr sz="1150">
                <a:solidFill>
                  <a:srgbClr val="1E293B"/>
                </a:solidFill>
              </a:rPr>
              <a:t>An automated tool gives users the truth before they share.</a:t>
            </a:r>
            <a:endParaRPr sz="115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itya_corner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65760"/>
            <a:ext cx="169164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4048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A580C"/>
                </a:solidFill>
                <a:latin typeface="Calibri" panose="020F0502020204030204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400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>
                <a:solidFill>
                  <a:srgbClr val="1E293B"/>
                </a:solidFill>
              </a:rPr>
              <a:t>•  Reading news online manually is slow and impractical at modern internet scale.</a:t>
            </a:r>
            <a:endParaRPr sz="1500">
              <a:solidFill>
                <a:srgbClr val="1E293B"/>
              </a:solidFill>
            </a:endParaRP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E293B"/>
                </a:solidFill>
              </a:rPr>
              <a:t>•  Raw web text is noisy: full of URLs, mentions (@user), hashtags (#news), special characters, and grammar mistakes.</a:t>
            </a:r>
            <a:endParaRPr sz="1500">
              <a:solidFill>
                <a:srgbClr val="1E293B"/>
              </a:solidFill>
            </a:endParaRP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E293B"/>
                </a:solidFill>
              </a:rPr>
              <a:t>•  Content changes constantly, so the system must predict immediately on freshly submitted digital text.</a:t>
            </a:r>
            <a:endParaRPr sz="1500">
              <a:solidFill>
                <a:srgbClr val="1E293B"/>
              </a:solidFill>
            </a:endParaRP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E293B"/>
                </a:solidFill>
              </a:rPr>
              <a:t>•  Modern fake news mimics genuine news formats, hiding viral scams and cash-phishing traps inside convincing text.</a:t>
            </a:r>
            <a:endParaRPr sz="1500">
              <a:solidFill>
                <a:srgbClr val="1E293B"/>
              </a:solidFill>
            </a:endParaRPr>
          </a:p>
          <a:p>
            <a:pPr>
              <a:spcAft>
                <a:spcPts val="1600"/>
              </a:spcAft>
            </a:pPr>
            <a:r>
              <a:rPr sz="1500">
                <a:solidFill>
                  <a:srgbClr val="1E293B"/>
                </a:solidFill>
              </a:rPr>
              <a:t>•  An automated system is needed to clean text, extract keywords, and classify news accurately in seconds.</a:t>
            </a:r>
            <a:endParaRPr sz="1500">
              <a:solidFill>
                <a:srgbClr val="1E293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79" y="11887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748B"/>
                </a:solidFill>
              </a:defRPr>
            </a:pPr>
            <a:r>
              <a:t>Illustrative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600200"/>
            <a:ext cx="3931920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69164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3B68"/>
                </a:solidFill>
              </a:defRPr>
            </a:pPr>
            <a:r>
              <a:t>Raw web text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  <a:latin typeface="Consolas" panose="020B0609020204030204"/>
              </a:defRPr>
            </a:pPr>
            <a:r>
              <a:t>BREAKING!! Markets fall again @bbc https://t.co/xyz #news</a:t>
            </a:r>
            <a:br/>
            <a:br/>
            <a:r>
              <a:t>Forward This Text To 20 People To Receive Fifty Thousand Dollars In Your Bank Account Today By Midnight!!</a:t>
            </a:r>
          </a:p>
        </p:txBody>
      </p:sp>
      <p:sp>
        <p:nvSpPr>
          <p:cNvPr id="9" name="Down Arrow 8"/>
          <p:cNvSpPr/>
          <p:nvPr/>
        </p:nvSpPr>
        <p:spPr>
          <a:xfrm>
            <a:off x="9235440" y="3657600"/>
            <a:ext cx="457200" cy="502920"/>
          </a:xfrm>
          <a:prstGeom prst="down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79" y="4297680"/>
            <a:ext cx="3931920" cy="1920240"/>
          </a:xfrm>
          <a:prstGeom prst="roundRect">
            <a:avLst/>
          </a:prstGeom>
          <a:solidFill>
            <a:srgbClr val="FFF1E6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438912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580C"/>
                </a:solidFill>
              </a:defRPr>
            </a:pPr>
            <a:r>
              <a:t>Key NLP Challenges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 Noise removal: strip links, @mentions, and hashtags.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 Emotional hyperbole and exaggerated punctuation (!!).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 Clever cash scams disguised as business news.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 Need multi-model consensus to avoid false alarms.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itya_corner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65760"/>
            <a:ext cx="169164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4048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A580C"/>
                </a:solidFill>
                <a:latin typeface="Calibri" panose="020F0502020204030204"/>
              </a:defRPr>
            </a:pPr>
            <a:r>
              <a:t>Objectives and Scope of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3B68"/>
                </a:solidFill>
              </a:defRPr>
            </a:pPr>
            <a:r>
              <a:t>Project Objectives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Automate Text Preprocessing: </a:t>
            </a:r>
            <a:r>
              <a:rPr sz="1200">
                <a:solidFill>
                  <a:srgbClr val="1E293B"/>
                </a:solidFill>
              </a:rPr>
              <a:t>Clean URLs, stopwords, and symbols using standard NLP techniques.</a:t>
            </a:r>
            <a:endParaRPr sz="120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Train 3 Machine Learning Models: </a:t>
            </a:r>
            <a:r>
              <a:rPr sz="1200">
                <a:solidFill>
                  <a:srgbClr val="1E293B"/>
                </a:solidFill>
              </a:rPr>
              <a:t>Compare Linear SVM, Logistic Regression, and Random Forest.</a:t>
            </a:r>
            <a:endParaRPr sz="120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Multi-Model Consensus: </a:t>
            </a:r>
            <a:r>
              <a:rPr sz="1200">
                <a:solidFill>
                  <a:srgbClr val="1E293B"/>
                </a:solidFill>
              </a:rPr>
              <a:t>All 3 models vote on the final prediction for maximum reliability.</a:t>
            </a:r>
            <a:endParaRPr sz="120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Credibility Speedometer: </a:t>
            </a:r>
            <a:r>
              <a:rPr sz="1200">
                <a:solidFill>
                  <a:srgbClr val="1E293B"/>
                </a:solidFill>
              </a:rPr>
              <a:t>Provide a clear 0-100% credibility score with visual signals.</a:t>
            </a:r>
            <a:endParaRPr sz="120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Deploy Web Application: </a:t>
            </a:r>
            <a:r>
              <a:rPr sz="1200">
                <a:solidFill>
                  <a:srgbClr val="1E293B"/>
                </a:solidFill>
              </a:rPr>
              <a:t>Build a responsive Flask website where anyone can test news in real time.</a:t>
            </a:r>
            <a:endParaRPr sz="1200">
              <a:solidFill>
                <a:srgbClr val="1E293B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1E6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580C"/>
                </a:solidFill>
              </a:defRPr>
            </a:pPr>
            <a:r>
              <a:t>Project Scope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In Scope - News Articles: </a:t>
            </a:r>
            <a:r>
              <a:rPr sz="1200">
                <a:solidFill>
                  <a:srgbClr val="1E293B"/>
                </a:solidFill>
              </a:rPr>
              <a:t>Works for both short news headlines and full-length articles.</a:t>
            </a:r>
            <a:endParaRPr sz="120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In Scope - Real-Time Predictions: </a:t>
            </a:r>
            <a:r>
              <a:rPr sz="1200">
                <a:solidFill>
                  <a:srgbClr val="1E293B"/>
                </a:solidFill>
              </a:rPr>
              <a:t>Instant classification with probability percentages in under 40ms.</a:t>
            </a:r>
            <a:endParaRPr sz="120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In Scope - User Feedback: </a:t>
            </a:r>
            <a:r>
              <a:rPr sz="1200">
                <a:solidFill>
                  <a:srgbClr val="1E293B"/>
                </a:solidFill>
              </a:rPr>
              <a:t>Users can mark ground truth to continuously evaluate models.</a:t>
            </a:r>
            <a:endParaRPr sz="120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Boundary - Modality: </a:t>
            </a:r>
            <a:r>
              <a:rPr sz="1200">
                <a:solidFill>
                  <a:srgbClr val="1E293B"/>
                </a:solidFill>
              </a:rPr>
              <a:t>Currently checks text only (video/image deepfakes are future scope).</a:t>
            </a:r>
            <a:endParaRPr sz="120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Boundary - Language: </a:t>
            </a:r>
            <a:r>
              <a:rPr sz="1200">
                <a:solidFill>
                  <a:srgbClr val="1E293B"/>
                </a:solidFill>
              </a:rPr>
              <a:t>Designed for English news (multilingual expansion planned).</a:t>
            </a:r>
            <a:endParaRPr sz="120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itya_corner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65760"/>
            <a:ext cx="169164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4048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A580C"/>
                </a:solidFill>
                <a:latin typeface="Calibri" panose="020F0502020204030204"/>
              </a:defRPr>
            </a:pPr>
            <a:r>
              <a:t>Dataset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1E293B"/>
                </a:solidFill>
              </a:rPr>
              <a:t>•  ISOT Dataset Benchmark: </a:t>
            </a:r>
            <a:r>
              <a:rPr sz="1350">
                <a:solidFill>
                  <a:srgbClr val="1E293B"/>
                </a:solidFill>
              </a:rPr>
              <a:t>Created by the Information Security &amp; Object Technology (ISOT) research lab.</a:t>
            </a:r>
            <a:endParaRPr sz="1350">
              <a:solidFill>
                <a:srgbClr val="1E293B"/>
              </a:solidFill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293B"/>
                </a:solidFill>
              </a:rPr>
              <a:t>•  Real News (21,417 articles): </a:t>
            </a:r>
            <a:r>
              <a:rPr sz="1350">
                <a:solidFill>
                  <a:srgbClr val="1E293B"/>
                </a:solidFill>
              </a:rPr>
              <a:t>Authentic articles scraped from verified Reuters wire service reporting.</a:t>
            </a:r>
            <a:endParaRPr sz="1350">
              <a:solidFill>
                <a:srgbClr val="1E293B"/>
              </a:solidFill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293B"/>
                </a:solidFill>
              </a:rPr>
              <a:t>•  Fake News (23,481 articles): </a:t>
            </a:r>
            <a:r>
              <a:rPr sz="1350">
                <a:solidFill>
                  <a:srgbClr val="1E293B"/>
                </a:solidFill>
              </a:rPr>
              <a:t>Fabricated articles collected from flagged untrustworthy websites and blogs.</a:t>
            </a:r>
            <a:endParaRPr sz="1350">
              <a:solidFill>
                <a:srgbClr val="1E293B"/>
              </a:solidFill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293B"/>
                </a:solidFill>
              </a:rPr>
              <a:t>•  Total Size: </a:t>
            </a:r>
            <a:r>
              <a:rPr sz="1350">
                <a:solidFill>
                  <a:srgbClr val="1E293B"/>
                </a:solidFill>
              </a:rPr>
              <a:t>44,898 total news articles covering global politics and world events.</a:t>
            </a:r>
            <a:endParaRPr sz="1350">
              <a:solidFill>
                <a:srgbClr val="1E293B"/>
              </a:solidFill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293B"/>
                </a:solidFill>
              </a:rPr>
              <a:t>•  Balanced Distribution: </a:t>
            </a:r>
            <a:r>
              <a:rPr sz="1350">
                <a:solidFill>
                  <a:srgbClr val="1E293B"/>
                </a:solidFill>
              </a:rPr>
              <a:t>47.7% Real vs 52.3% Fake — balanced data ensures unbiased training.</a:t>
            </a:r>
            <a:endParaRPr sz="1350">
              <a:solidFill>
                <a:srgbClr val="1E293B"/>
              </a:solidFill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293B"/>
                </a:solidFill>
              </a:rPr>
              <a:t>•  Modern Scam Addition: </a:t>
            </a:r>
            <a:r>
              <a:rPr sz="1350">
                <a:solidFill>
                  <a:srgbClr val="1E293B"/>
                </a:solidFill>
              </a:rPr>
              <a:t>Enhanced with modern verified scams (phishing &amp; WhatsApp chains) for contemporary accuracy.</a:t>
            </a:r>
            <a:endParaRPr sz="1350">
              <a:solidFill>
                <a:srgbClr val="1E293B"/>
              </a:solidFill>
            </a:endParaRPr>
          </a:p>
        </p:txBody>
      </p:sp>
      <p:pic>
        <p:nvPicPr>
          <p:cNvPr id="6" name="Picture 5" descr="chart_eda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26407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itya_corner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65760"/>
            <a:ext cx="169164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4048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A580C"/>
                </a:solidFill>
                <a:latin typeface="Calibri" panose="020F0502020204030204"/>
              </a:defRPr>
            </a:pPr>
            <a:r>
              <a:t>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1E293B"/>
                </a:solidFill>
              </a:rPr>
              <a:t>•  1. Cleaning: </a:t>
            </a:r>
            <a:r>
              <a:rPr sz="1350">
                <a:solidFill>
                  <a:srgbClr val="1E293B"/>
                </a:solidFill>
              </a:rPr>
              <a:t>Remove URLs (http://...), @mentions, HTML tags, and punctuation noise.</a:t>
            </a:r>
            <a:endParaRPr sz="1350">
              <a:solidFill>
                <a:srgbClr val="1E293B"/>
              </a:solidFill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293B"/>
                </a:solidFill>
              </a:rPr>
              <a:t>•  2. Lowercasing: </a:t>
            </a:r>
            <a:r>
              <a:rPr sz="1350">
                <a:solidFill>
                  <a:srgbClr val="1E293B"/>
                </a:solidFill>
              </a:rPr>
              <a:t>Convert all words to lowercase so 'BREAKING' matches 'breaking'.</a:t>
            </a:r>
            <a:endParaRPr sz="1350">
              <a:solidFill>
                <a:srgbClr val="1E293B"/>
              </a:solidFill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293B"/>
                </a:solidFill>
              </a:rPr>
              <a:t>•  3. Tokenization: </a:t>
            </a:r>
            <a:r>
              <a:rPr sz="1350">
                <a:solidFill>
                  <a:srgbClr val="1E293B"/>
                </a:solidFill>
              </a:rPr>
              <a:t>Break continuous sentences into individual word tokens.</a:t>
            </a:r>
            <a:endParaRPr sz="1350">
              <a:solidFill>
                <a:srgbClr val="1E293B"/>
              </a:solidFill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293B"/>
                </a:solidFill>
              </a:rPr>
              <a:t>•  4. Stopword Removal: </a:t>
            </a:r>
            <a:r>
              <a:rPr sz="1350">
                <a:solidFill>
                  <a:srgbClr val="1E293B"/>
                </a:solidFill>
              </a:rPr>
              <a:t>Filter out non-meaningful words like 'the', 'is', 'at'.</a:t>
            </a:r>
            <a:endParaRPr sz="1350">
              <a:solidFill>
                <a:srgbClr val="1E293B"/>
              </a:solidFill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293B"/>
                </a:solidFill>
              </a:rPr>
              <a:t>•  5. Lemmatization: </a:t>
            </a:r>
            <a:r>
              <a:rPr sz="1350">
                <a:solidFill>
                  <a:srgbClr val="1E293B"/>
                </a:solidFill>
              </a:rPr>
              <a:t>Convert words to their dictionary root form ('cured' -&gt; 'cure').</a:t>
            </a:r>
            <a:endParaRPr sz="1350">
              <a:solidFill>
                <a:srgbClr val="1E293B"/>
              </a:solidFill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293B"/>
                </a:solidFill>
              </a:rPr>
              <a:t>•  6. TF-IDF Vectorizer: </a:t>
            </a:r>
            <a:r>
              <a:rPr sz="1350">
                <a:solidFill>
                  <a:srgbClr val="1E293B"/>
                </a:solidFill>
              </a:rPr>
              <a:t>Transform words into numerical scores (top 5,000 unigrams &amp; bigrams).</a:t>
            </a:r>
            <a:endParaRPr sz="1350">
              <a:solidFill>
                <a:srgbClr val="1E293B"/>
              </a:solidFill>
            </a:endParaRPr>
          </a:p>
        </p:txBody>
      </p:sp>
      <p:pic>
        <p:nvPicPr>
          <p:cNvPr id="6" name="Picture 5" descr="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itya_corner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65760"/>
            <a:ext cx="169164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4048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A580C"/>
                </a:solidFill>
                <a:latin typeface="Calibri" panose="020F0502020204030204"/>
              </a:defRPr>
            </a:pPr>
            <a:r>
              <a:t>Exploratory Data Analysis (EDA)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217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400" b="1">
                <a:solidFill>
                  <a:srgbClr val="1E293B"/>
                </a:solidFill>
              </a:rPr>
              <a:t>•  Article Length Disparity: </a:t>
            </a:r>
            <a:r>
              <a:rPr sz="1350">
                <a:solidFill>
                  <a:srgbClr val="1E293B"/>
                </a:solidFill>
              </a:rPr>
              <a:t>Real news has a steady average length (~412 words). Fake news is either very short clickbait (&lt;50 words) or long rambling blogs.</a:t>
            </a:r>
            <a:endParaRPr sz="1350">
              <a:solidFill>
                <a:srgbClr val="1E293B"/>
              </a:solidFill>
            </a:endParaRPr>
          </a:p>
          <a:p>
            <a:pPr>
              <a:spcAft>
                <a:spcPts val="1500"/>
              </a:spcAft>
            </a:pPr>
            <a:r>
              <a:rPr sz="1400" b="1">
                <a:solidFill>
                  <a:srgbClr val="1E293B"/>
                </a:solidFill>
              </a:rPr>
              <a:t>•  Vocabulary Patterns: </a:t>
            </a:r>
            <a:r>
              <a:rPr sz="1350">
                <a:solidFill>
                  <a:srgbClr val="1E293B"/>
                </a:solidFill>
              </a:rPr>
              <a:t>Real news frequently uses formal attribution words ('reuters', 'washington', 'spokesman'). Fake news heavily overuses emotional words ('shocking', 'exposed', 'secret', 'miracle').</a:t>
            </a:r>
            <a:endParaRPr sz="1350">
              <a:solidFill>
                <a:srgbClr val="1E293B"/>
              </a:solidFill>
            </a:endParaRPr>
          </a:p>
          <a:p>
            <a:pPr>
              <a:spcAft>
                <a:spcPts val="1500"/>
              </a:spcAft>
            </a:pPr>
            <a:r>
              <a:rPr sz="1400" b="1">
                <a:solidFill>
                  <a:srgbClr val="1E293B"/>
                </a:solidFill>
              </a:rPr>
              <a:t>•  Headline Capitalization: </a:t>
            </a:r>
            <a:r>
              <a:rPr sz="1350">
                <a:solidFill>
                  <a:srgbClr val="1E293B"/>
                </a:solidFill>
              </a:rPr>
              <a:t>Fake headlines use 3.8x more capital letters ('ALL CAPS') to shout and attract attention.</a:t>
            </a:r>
            <a:endParaRPr sz="1350">
              <a:solidFill>
                <a:srgbClr val="1E293B"/>
              </a:solidFill>
            </a:endParaRPr>
          </a:p>
          <a:p>
            <a:pPr>
              <a:spcAft>
                <a:spcPts val="1500"/>
              </a:spcAft>
            </a:pPr>
            <a:r>
              <a:rPr sz="1400" b="1">
                <a:solidFill>
                  <a:srgbClr val="1E293B"/>
                </a:solidFill>
              </a:rPr>
              <a:t>•  Exclamation Marks (!!!): </a:t>
            </a:r>
            <a:r>
              <a:rPr sz="1350">
                <a:solidFill>
                  <a:srgbClr val="1E293B"/>
                </a:solidFill>
              </a:rPr>
              <a:t>Fake news uses exclamation marks 4 times more often than genuine wire news.</a:t>
            </a:r>
            <a:endParaRPr sz="1350">
              <a:solidFill>
                <a:srgbClr val="1E293B"/>
              </a:solidFill>
            </a:endParaRPr>
          </a:p>
          <a:p>
            <a:pPr>
              <a:spcAft>
                <a:spcPts val="1500"/>
              </a:spcAft>
            </a:pPr>
            <a:r>
              <a:rPr sz="1400" b="1">
                <a:solidFill>
                  <a:srgbClr val="1E293B"/>
                </a:solidFill>
              </a:rPr>
              <a:t>•  Key Insight: </a:t>
            </a:r>
            <a:r>
              <a:rPr sz="1350">
                <a:solidFill>
                  <a:srgbClr val="1E293B"/>
                </a:solidFill>
              </a:rPr>
              <a:t>Combining word frequency (TF-IDF) with punctuation and capitalization markers produces the highest detection accuracy.</a:t>
            </a:r>
            <a:endParaRPr sz="1350">
              <a:solidFill>
                <a:srgbClr val="1E293B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411480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3B68"/>
                </a:solidFill>
              </a:defRPr>
            </a:pPr>
            <a:r>
              <a:t>Real vs Fake Text Patterns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EA580C"/>
                </a:solidFill>
              </a:rPr>
              <a:t>• Average Article Length
</a:t>
            </a:r>
            <a:r>
              <a:rPr sz="1050">
                <a:solidFill>
                  <a:srgbClr val="1E293B"/>
                </a:solidFill>
              </a:rPr>
              <a:t>   • Real: ~412 words
   • Fake: ~289 words (High variance)</a:t>
            </a:r>
            <a:endParaRPr sz="1050">
              <a:solidFill>
                <a:srgbClr val="1E293B"/>
              </a:solidFill>
            </a:endParaRP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EA580C"/>
                </a:solidFill>
              </a:rPr>
              <a:t>• Headline Uppercase (ALL CAPS)
</a:t>
            </a:r>
            <a:r>
              <a:rPr sz="1050">
                <a:solidFill>
                  <a:srgbClr val="1E293B"/>
                </a:solidFill>
              </a:rPr>
              <a:t>   • Real: 6.2% of chars
   • Fake: 23.8% (3.8x higher)</a:t>
            </a:r>
            <a:endParaRPr sz="1050">
              <a:solidFill>
                <a:srgbClr val="1E293B"/>
              </a:solidFill>
            </a:endParaRP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EA580C"/>
                </a:solidFill>
              </a:rPr>
              <a:t>• Exclamation Mark Pct (!)
</a:t>
            </a:r>
            <a:r>
              <a:rPr sz="1050">
                <a:solidFill>
                  <a:srgbClr val="1E293B"/>
                </a:solidFill>
              </a:rPr>
              <a:t>   • Real: 0.8% of sentences
   • Fake: 14.2% of sentences</a:t>
            </a:r>
            <a:endParaRPr sz="1050">
              <a:solidFill>
                <a:srgbClr val="1E293B"/>
              </a:solidFill>
            </a:endParaRP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EA580C"/>
                </a:solidFill>
              </a:rPr>
              <a:t>• Source Attribution
</a:t>
            </a:r>
            <a:r>
              <a:rPr sz="1050">
                <a:solidFill>
                  <a:srgbClr val="1E293B"/>
                </a:solidFill>
              </a:rPr>
              <a:t>   • Real: 88% cite sources
   • Fake: 12% cite sources</a:t>
            </a:r>
            <a:endParaRPr sz="1050">
              <a:solidFill>
                <a:srgbClr val="1E293B"/>
              </a:solidFill>
            </a:endParaRP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EA580C"/>
                </a:solidFill>
              </a:rPr>
              <a:t>• Top Characteristic Words
</a:t>
            </a:r>
            <a:r>
              <a:rPr sz="1050">
                <a:solidFill>
                  <a:srgbClr val="1E293B"/>
                </a:solidFill>
              </a:rPr>
              <a:t>   • Real: 'reuters', 'confirmed'
   • Fake: 'shocking', 'exposed'</a:t>
            </a:r>
            <a:endParaRPr sz="105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itya_corner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65760"/>
            <a:ext cx="169164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4048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A580C"/>
                </a:solidFill>
                <a:latin typeface="Calibri" panose="020F0502020204030204"/>
              </a:defRPr>
            </a:pPr>
            <a:r>
              <a:t>Proposed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400" b="1">
                <a:solidFill>
                  <a:srgbClr val="1E293B"/>
                </a:solidFill>
              </a:rPr>
              <a:t>•  Step 1 - User Input: </a:t>
            </a:r>
            <a:r>
              <a:rPr sz="1300">
                <a:solidFill>
                  <a:srgbClr val="1E293B"/>
                </a:solidFill>
              </a:rPr>
              <a:t>User submits news text or a headline through the web interface.</a:t>
            </a:r>
            <a:endParaRPr sz="1300">
              <a:solidFill>
                <a:srgbClr val="1E293B"/>
              </a:solidFill>
            </a:endParaRP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1E293B"/>
                </a:solidFill>
              </a:rPr>
              <a:t>•  Step 2 - Text Preprocessing: </a:t>
            </a:r>
            <a:r>
              <a:rPr sz="1300">
                <a:solidFill>
                  <a:srgbClr val="1E293B"/>
                </a:solidFill>
              </a:rPr>
              <a:t>Removes noise, lowercases text, and lemmatizes root words.</a:t>
            </a:r>
            <a:endParaRPr sz="1300">
              <a:solidFill>
                <a:srgbClr val="1E293B"/>
              </a:solidFill>
            </a:endParaRP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1E293B"/>
                </a:solidFill>
              </a:rPr>
              <a:t>•  Step 3 - TF-IDF Vectorization: </a:t>
            </a:r>
            <a:r>
              <a:rPr sz="1300">
                <a:solidFill>
                  <a:srgbClr val="1E293B"/>
                </a:solidFill>
              </a:rPr>
              <a:t>Extracts the 5,000 most informative unigram and bigram word features.</a:t>
            </a:r>
            <a:endParaRPr sz="1300">
              <a:solidFill>
                <a:srgbClr val="1E293B"/>
              </a:solidFill>
            </a:endParaRP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1E293B"/>
                </a:solidFill>
              </a:rPr>
              <a:t>•  Step 4 - 3 ML Models Predict: </a:t>
            </a:r>
            <a:r>
              <a:rPr sz="1300">
                <a:solidFill>
                  <a:srgbClr val="1E293B"/>
                </a:solidFill>
              </a:rPr>
              <a:t>Linear SVM, Logistic Regression, and Random Forest evaluate text simultaneously.</a:t>
            </a:r>
            <a:endParaRPr sz="1300">
              <a:solidFill>
                <a:srgbClr val="1E293B"/>
              </a:solidFill>
            </a:endParaRP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1E293B"/>
                </a:solidFill>
              </a:rPr>
              <a:t>•  Step 5 - Credibility Speedometer: </a:t>
            </a:r>
            <a:r>
              <a:rPr sz="1300">
                <a:solidFill>
                  <a:srgbClr val="1E293B"/>
                </a:solidFill>
              </a:rPr>
              <a:t>Combines model probabilities with linguistic indicators into a 0-100% score.</a:t>
            </a:r>
            <a:endParaRPr sz="1300">
              <a:solidFill>
                <a:srgbClr val="1E293B"/>
              </a:solidFill>
            </a:endParaRP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1E293B"/>
                </a:solidFill>
              </a:rPr>
              <a:t>•  Step 6 - Instant Output: </a:t>
            </a:r>
            <a:r>
              <a:rPr sz="1300">
                <a:solidFill>
                  <a:srgbClr val="1E293B"/>
                </a:solidFill>
              </a:rPr>
              <a:t>Displays REAL or FAKE verdict with clear consensus across all 3 models.</a:t>
            </a:r>
            <a:endParaRPr sz="1300">
              <a:solidFill>
                <a:srgbClr val="1E293B"/>
              </a:solidFill>
            </a:endParaRPr>
          </a:p>
        </p:txBody>
      </p:sp>
      <p:pic>
        <p:nvPicPr>
          <p:cNvPr id="6" name="Picture 5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itya_corner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65760"/>
            <a:ext cx="169164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4048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A580C"/>
                </a:solidFill>
                <a:latin typeface="Calibri" panose="020F0502020204030204"/>
              </a:defRPr>
            </a:pPr>
            <a:r>
              <a:t>Machine Learning Algorithms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A580C"/>
                </a:solidFill>
              </a:defRPr>
            </a:pPr>
            <a:r>
              <a:t>Linear SVM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[Primary Active Model]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E293B"/>
                </a:solidFill>
              </a:rPr>
              <a:t>• How it works: </a:t>
            </a:r>
            <a:r>
              <a:rPr sz="1150">
                <a:solidFill>
                  <a:srgbClr val="1E293B"/>
                </a:solidFill>
              </a:rPr>
              <a:t>Finds the optimal straight-line boundary separating Real from Fake news in high-dimensional text space.</a:t>
            </a:r>
            <a:endParaRPr sz="1150">
              <a:solidFill>
                <a:srgbClr val="1E293B"/>
              </a:solidFill>
            </a:endParaRP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E293B"/>
                </a:solidFill>
              </a:rPr>
              <a:t>• Why we chose it: </a:t>
            </a:r>
            <a:r>
              <a:rPr sz="1150">
                <a:solidFill>
                  <a:srgbClr val="1E293B"/>
                </a:solidFill>
              </a:rPr>
              <a:t>Performs best for sparse text with 5,000 word features. Does not suffer from overfitting.</a:t>
            </a:r>
            <a:endParaRPr sz="1150">
              <a:solidFill>
                <a:srgbClr val="1E293B"/>
              </a:solidFill>
            </a:endParaRP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E293B"/>
                </a:solidFill>
              </a:rPr>
              <a:t>• Role in System: </a:t>
            </a:r>
            <a:r>
              <a:rPr sz="1150">
                <a:solidFill>
                  <a:srgbClr val="1E293B"/>
                </a:solidFill>
              </a:rPr>
              <a:t>Serves as the primary active classifier for live predictions.</a:t>
            </a:r>
            <a:endParaRPr sz="1150">
              <a:solidFill>
                <a:srgbClr val="1E293B"/>
              </a:solidFill>
            </a:endParaRP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E293B"/>
                </a:solidFill>
              </a:rPr>
              <a:t>• Accuracy: </a:t>
            </a:r>
            <a:r>
              <a:rPr sz="1150">
                <a:solidFill>
                  <a:srgbClr val="1E293B"/>
                </a:solidFill>
              </a:rPr>
              <a:t>99.07% accuracy (highest overall score in our project).</a:t>
            </a:r>
            <a:endParaRPr sz="1150">
              <a:solidFill>
                <a:srgbClr val="1E293B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434840" y="137160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3B68"/>
                </a:solidFill>
              </a:defRPr>
            </a:pPr>
            <a:r>
              <a:t>Logistic Regression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[Probabilistic Baseline]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E293B"/>
                </a:solidFill>
              </a:rPr>
              <a:t>• How it works: </a:t>
            </a:r>
            <a:r>
              <a:rPr sz="1150">
                <a:solidFill>
                  <a:srgbClr val="1E293B"/>
                </a:solidFill>
              </a:rPr>
              <a:t>Uses the Sigmoid curve function to calculate probability percentages between 0% and 100%.</a:t>
            </a:r>
            <a:endParaRPr sz="1150">
              <a:solidFill>
                <a:srgbClr val="1E293B"/>
              </a:solidFill>
            </a:endParaRP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E293B"/>
                </a:solidFill>
              </a:rPr>
              <a:t>• Why we chose it: </a:t>
            </a:r>
            <a:r>
              <a:rPr sz="1150">
                <a:solidFill>
                  <a:srgbClr val="1E293B"/>
                </a:solidFill>
              </a:rPr>
              <a:t>Provides smooth, calibrated probability scores that power our Credibility Speedometer.</a:t>
            </a:r>
            <a:endParaRPr sz="1150">
              <a:solidFill>
                <a:srgbClr val="1E293B"/>
              </a:solidFill>
            </a:endParaRP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E293B"/>
                </a:solidFill>
              </a:rPr>
              <a:t>• Role in System: </a:t>
            </a:r>
            <a:r>
              <a:rPr sz="1150">
                <a:solidFill>
                  <a:srgbClr val="1E293B"/>
                </a:solidFill>
              </a:rPr>
              <a:t>Gives calibrated probabilistic confidence.</a:t>
            </a:r>
            <a:endParaRPr sz="1150">
              <a:solidFill>
                <a:srgbClr val="1E293B"/>
              </a:solidFill>
            </a:endParaRP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E293B"/>
                </a:solidFill>
              </a:rPr>
              <a:t>• Accuracy: </a:t>
            </a:r>
            <a:r>
              <a:rPr sz="1150">
                <a:solidFill>
                  <a:srgbClr val="1E293B"/>
                </a:solidFill>
              </a:rPr>
              <a:t>98.71% accuracy with fast sub-millisecond speed.</a:t>
            </a:r>
            <a:endParaRPr sz="1150">
              <a:solidFill>
                <a:srgbClr val="1E293B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383280" cy="4754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</a:defRPr>
            </a:pPr>
            <a:r>
              <a:t>Random Forest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[Non-Linear Ensemble]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E293B"/>
                </a:solidFill>
              </a:rPr>
              <a:t>• How it works: </a:t>
            </a:r>
            <a:r>
              <a:rPr sz="1150">
                <a:solidFill>
                  <a:srgbClr val="1E293B"/>
                </a:solidFill>
              </a:rPr>
              <a:t>Builds a forest of 100 decision trees that all vote together on the result.</a:t>
            </a:r>
            <a:endParaRPr sz="1150">
              <a:solidFill>
                <a:srgbClr val="1E293B"/>
              </a:solidFill>
            </a:endParaRP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E293B"/>
                </a:solidFill>
              </a:rPr>
              <a:t>• Why we chose it: </a:t>
            </a:r>
            <a:r>
              <a:rPr sz="1150">
                <a:solidFill>
                  <a:srgbClr val="1E293B"/>
                </a:solidFill>
              </a:rPr>
              <a:t>Captures complex word combinations and resists noisy outlier text.</a:t>
            </a:r>
            <a:endParaRPr sz="1150">
              <a:solidFill>
                <a:srgbClr val="1E293B"/>
              </a:solidFill>
            </a:endParaRP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E293B"/>
                </a:solidFill>
              </a:rPr>
              <a:t>• Role in System: </a:t>
            </a:r>
            <a:r>
              <a:rPr sz="1150">
                <a:solidFill>
                  <a:srgbClr val="1E293B"/>
                </a:solidFill>
              </a:rPr>
              <a:t>Provides independent ensemble validation for linear models.</a:t>
            </a:r>
            <a:endParaRPr sz="1150">
              <a:solidFill>
                <a:srgbClr val="1E293B"/>
              </a:solidFill>
            </a:endParaRP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1E293B"/>
                </a:solidFill>
              </a:rPr>
              <a:t>• Accuracy: </a:t>
            </a:r>
            <a:r>
              <a:rPr sz="1150">
                <a:solidFill>
                  <a:srgbClr val="1E293B"/>
                </a:solidFill>
              </a:rPr>
              <a:t>98.98% accuracy and 98.93% F1-score.</a:t>
            </a:r>
            <a:endParaRPr sz="115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itya_corner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65760"/>
            <a:ext cx="169164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4048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A580C"/>
                </a:solidFill>
                <a:latin typeface="Calibri" panose="020F0502020204030204"/>
              </a:defRPr>
            </a:pPr>
            <a:r>
              <a:t>Model Training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217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1E293B"/>
                </a:solidFill>
              </a:rPr>
              <a:t>•  80/20 Train-Test Split: </a:t>
            </a:r>
            <a:r>
              <a:rPr sz="1350">
                <a:solidFill>
                  <a:srgbClr val="1E293B"/>
                </a:solidFill>
              </a:rPr>
              <a:t>35,918 articles used for training. 8,980 unseen articles kept aside strictly for testing.</a:t>
            </a:r>
            <a:endParaRPr sz="1350">
              <a:solidFill>
                <a:srgbClr val="1E293B"/>
              </a:solidFill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293B"/>
                </a:solidFill>
              </a:rPr>
              <a:t>•  Stratified Sampling: </a:t>
            </a:r>
            <a:r>
              <a:rPr sz="1350">
                <a:solidFill>
                  <a:srgbClr val="1E293B"/>
                </a:solidFill>
              </a:rPr>
              <a:t>Ensures an exact 50/50 balance of Real and Fake articles in both training and test sets.</a:t>
            </a:r>
            <a:endParaRPr sz="1350">
              <a:solidFill>
                <a:srgbClr val="1E293B"/>
              </a:solidFill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293B"/>
                </a:solidFill>
              </a:rPr>
              <a:t>•  Modern Scam Weighting: </a:t>
            </a:r>
            <a:r>
              <a:rPr sz="1350">
                <a:solidFill>
                  <a:srgbClr val="1E293B"/>
                </a:solidFill>
              </a:rPr>
              <a:t>Applied 150x weight on contemporary scams so the AI easily catches new WhatsApp cash &amp; lottery phishing.</a:t>
            </a:r>
            <a:endParaRPr sz="1350">
              <a:solidFill>
                <a:srgbClr val="1E293B"/>
              </a:solidFill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293B"/>
                </a:solidFill>
              </a:rPr>
              <a:t>•  Hyperparameter Tuning: </a:t>
            </a:r>
            <a:r>
              <a:rPr sz="1350">
                <a:solidFill>
                  <a:srgbClr val="1E293B"/>
                </a:solidFill>
              </a:rPr>
              <a:t>• Linear SVM: Regularization C=1.0, Linear kernel.
• Logistic Regression: L2 penalty, C=2.0.
• Random Forest: 100 trees, max_features='sqrt'.</a:t>
            </a:r>
            <a:endParaRPr sz="1350">
              <a:solidFill>
                <a:srgbClr val="1E293B"/>
              </a:solidFill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293B"/>
                </a:solidFill>
              </a:rPr>
              <a:t>•  Tested on Both Types: </a:t>
            </a:r>
            <a:r>
              <a:rPr sz="1350">
                <a:solidFill>
                  <a:srgbClr val="1E293B"/>
                </a:solidFill>
              </a:rPr>
              <a:t>Achieves 99% accuracy on full articles and 95% accuracy on short isolated headlines.</a:t>
            </a:r>
            <a:endParaRPr sz="1350">
              <a:solidFill>
                <a:srgbClr val="1E293B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4114800" cy="4846320"/>
          </a:xfrm>
          <a:prstGeom prst="roundRect">
            <a:avLst/>
          </a:prstGeom>
          <a:solidFill>
            <a:srgbClr val="FFF1E6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Training Specifications</a:t>
            </a:r>
          </a:p>
          <a:p>
            <a:pPr>
              <a:spcBef>
                <a:spcPts val="1100"/>
              </a:spcBef>
            </a:pPr>
            <a:r>
              <a:rPr sz="1250" b="1">
                <a:solidFill>
                  <a:srgbClr val="1E293B"/>
                </a:solidFill>
              </a:rPr>
              <a:t>•  Total Training Data: </a:t>
            </a:r>
            <a:r>
              <a:rPr sz="1150">
                <a:solidFill>
                  <a:srgbClr val="1E293B"/>
                </a:solidFill>
              </a:rPr>
              <a:t>35,918 articles</a:t>
            </a:r>
            <a:endParaRPr sz="1150">
              <a:solidFill>
                <a:srgbClr val="1E293B"/>
              </a:solidFill>
            </a:endParaRPr>
          </a:p>
          <a:p>
            <a:pPr>
              <a:spcBef>
                <a:spcPts val="1100"/>
              </a:spcBef>
            </a:pPr>
            <a:r>
              <a:rPr sz="1250" b="1">
                <a:solidFill>
                  <a:srgbClr val="1E293B"/>
                </a:solidFill>
              </a:rPr>
              <a:t>•  Total Test Data: </a:t>
            </a:r>
            <a:r>
              <a:rPr sz="1150">
                <a:solidFill>
                  <a:srgbClr val="1E293B"/>
                </a:solidFill>
              </a:rPr>
              <a:t>8,980 articles</a:t>
            </a:r>
            <a:endParaRPr sz="1150">
              <a:solidFill>
                <a:srgbClr val="1E293B"/>
              </a:solidFill>
            </a:endParaRPr>
          </a:p>
          <a:p>
            <a:pPr>
              <a:spcBef>
                <a:spcPts val="1100"/>
              </a:spcBef>
            </a:pPr>
            <a:r>
              <a:rPr sz="1250" b="1">
                <a:solidFill>
                  <a:srgbClr val="1E293B"/>
                </a:solidFill>
              </a:rPr>
              <a:t>•  Vocabulary Size: </a:t>
            </a:r>
            <a:r>
              <a:rPr sz="1150">
                <a:solidFill>
                  <a:srgbClr val="1E293B"/>
                </a:solidFill>
              </a:rPr>
              <a:t>5,000 Unigram &amp; Bigram Features</a:t>
            </a:r>
            <a:endParaRPr sz="1150">
              <a:solidFill>
                <a:srgbClr val="1E293B"/>
              </a:solidFill>
            </a:endParaRPr>
          </a:p>
          <a:p>
            <a:pPr>
              <a:spcBef>
                <a:spcPts val="1100"/>
              </a:spcBef>
            </a:pPr>
            <a:r>
              <a:rPr sz="1250" b="1">
                <a:solidFill>
                  <a:srgbClr val="1E293B"/>
                </a:solidFill>
              </a:rPr>
              <a:t>•  Sublinear TF Scaling: </a:t>
            </a:r>
            <a:r>
              <a:rPr sz="1150">
                <a:solidFill>
                  <a:srgbClr val="1E293B"/>
                </a:solidFill>
              </a:rPr>
              <a:t>Dampens repeated spam keywords</a:t>
            </a:r>
            <a:endParaRPr sz="1150">
              <a:solidFill>
                <a:srgbClr val="1E293B"/>
              </a:solidFill>
            </a:endParaRPr>
          </a:p>
          <a:p>
            <a:pPr>
              <a:spcBef>
                <a:spcPts val="1100"/>
              </a:spcBef>
            </a:pPr>
            <a:r>
              <a:rPr sz="1250" b="1">
                <a:solidFill>
                  <a:srgbClr val="1E293B"/>
                </a:solidFill>
              </a:rPr>
              <a:t>•  Prediction Speed: </a:t>
            </a:r>
            <a:r>
              <a:rPr sz="1150">
                <a:solidFill>
                  <a:srgbClr val="1E293B"/>
                </a:solidFill>
              </a:rPr>
              <a:t>SVM: ~0.6ms | LR: ~1.2ms | RF: ~40ms</a:t>
            </a:r>
            <a:endParaRPr sz="1150">
              <a:solidFill>
                <a:srgbClr val="1E293B"/>
              </a:solidFill>
            </a:endParaRPr>
          </a:p>
          <a:p>
            <a:pPr>
              <a:spcBef>
                <a:spcPts val="1100"/>
              </a:spcBef>
            </a:pPr>
            <a:r>
              <a:rPr sz="1250" b="1">
                <a:solidFill>
                  <a:srgbClr val="1E293B"/>
                </a:solidFill>
              </a:rPr>
              <a:t>•  Consensus Voting: </a:t>
            </a:r>
            <a:r>
              <a:rPr sz="1150">
                <a:solidFill>
                  <a:srgbClr val="1E293B"/>
                </a:solidFill>
              </a:rPr>
              <a:t>Majority rule across all 3 models</a:t>
            </a:r>
            <a:endParaRPr sz="115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itya_corner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65760"/>
            <a:ext cx="169164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4048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A580C"/>
                </a:solidFill>
                <a:latin typeface="Calibri" panose="020F0502020204030204"/>
              </a:defRPr>
            </a:pPr>
            <a:r>
              <a:t>Model Evaluation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6984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371600"/>
                <a:gridCol w="1371600"/>
                <a:gridCol w="155448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Headline Acc.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A580C"/>
                          </a:solidFill>
                          <a:latin typeface="Calibri" panose="020F0502020204030204"/>
                        </a:defRPr>
                      </a:pPr>
                      <a:r>
                        <a:t>Linear SVM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99.07%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98.60%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99.46%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99.03%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94.94%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Active Primary</a:t>
                      </a:r>
                    </a:p>
                  </a:txBody>
                  <a:tcPr>
                    <a:solidFill>
                      <a:srgbClr val="FFF1E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98.98%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98.84%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99.02%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98.93%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94.20%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Evaluated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98.71%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98.42%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98.88%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98.65%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93.80%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Consensus Ensemble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99.12%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98.90%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99.35%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99.12%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95.10%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Calibri" panose="020F0502020204030204"/>
                        </a:defRPr>
                      </a:pPr>
                      <a:r>
                        <a:t>Consensus Meta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hart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54680"/>
            <a:ext cx="6035040" cy="3621024"/>
          </a:xfrm>
          <a:prstGeom prst="rect">
            <a:avLst/>
          </a:prstGeom>
        </p:spPr>
      </p:pic>
      <p:pic>
        <p:nvPicPr>
          <p:cNvPr id="7" name="Picture 6" descr="chart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154680"/>
            <a:ext cx="4389120" cy="3706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52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itya_corner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65760"/>
            <a:ext cx="169164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4048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A580C"/>
                </a:solidFill>
                <a:latin typeface="Calibri" panose="020F0502020204030204"/>
              </a:defRPr>
            </a:pPr>
            <a:r>
              <a:t>Results and Output 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47055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Figure 1: Live News Analyzer - 0-100% Credibility Speedometer, Multi-Model Consensus, and Linguistic Signals.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5321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Figure 2: Performance Dashboard - Live Evaluator, Dynamic Confusion Matrix, and Real-Time Evaluation Table.</a:t>
            </a:r>
          </a:p>
        </p:txBody>
      </p:sp>
      <p:pic>
        <p:nvPicPr>
          <p:cNvPr id="9" name="Picture 8" descr="Screenshot 2026-10-25 2307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901700"/>
            <a:ext cx="3693795" cy="2164080"/>
          </a:xfrm>
          <a:prstGeom prst="rect">
            <a:avLst/>
          </a:prstGeom>
        </p:spPr>
      </p:pic>
      <p:pic>
        <p:nvPicPr>
          <p:cNvPr id="15" name="Picture 14" descr="Screenshot 2026-10-25 2316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15" y="3246120"/>
            <a:ext cx="1713865" cy="2341880"/>
          </a:xfrm>
          <a:prstGeom prst="rect">
            <a:avLst/>
          </a:prstGeom>
        </p:spPr>
      </p:pic>
      <p:pic>
        <p:nvPicPr>
          <p:cNvPr id="16" name="Picture 15" descr="Screenshot 2026-10-25 2317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5695" y="3572510"/>
            <a:ext cx="3693160" cy="1567180"/>
          </a:xfrm>
          <a:prstGeom prst="rect">
            <a:avLst/>
          </a:prstGeom>
        </p:spPr>
      </p:pic>
      <p:pic>
        <p:nvPicPr>
          <p:cNvPr id="17" name="Picture 16" descr="Screenshot 2026-10-25 2308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9560" y="969645"/>
            <a:ext cx="4269105" cy="2152015"/>
          </a:xfrm>
          <a:prstGeom prst="rect">
            <a:avLst/>
          </a:prstGeom>
        </p:spPr>
      </p:pic>
      <p:pic>
        <p:nvPicPr>
          <p:cNvPr id="20" name="Picture 19" descr="Screenshot 2026-10-25 23085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3246120"/>
            <a:ext cx="4269740" cy="21615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52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itya_corner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65760"/>
            <a:ext cx="169164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4048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A580C"/>
                </a:solidFill>
                <a:latin typeface="Calibri" panose="020F0502020204030204"/>
              </a:defRPr>
            </a:pPr>
            <a:r>
              <a:t>Results and Output 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47055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Figure 1: Live News Analyzer - 0-100% Credibility Speedometer, Multi-Model Consensus, and Linguistic Signals.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5321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Figure 2: Performance Dashboard - Live Evaluator, Dynamic Confusion Matrix, and Real-Time Evaluation Table.</a:t>
            </a:r>
          </a:p>
        </p:txBody>
      </p:sp>
      <p:pic>
        <p:nvPicPr>
          <p:cNvPr id="5" name="Picture 4" descr="Screenshot 2026-10-25 2315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55" y="1713230"/>
            <a:ext cx="5037455" cy="3148330"/>
          </a:xfrm>
          <a:prstGeom prst="rect">
            <a:avLst/>
          </a:prstGeom>
        </p:spPr>
      </p:pic>
      <p:pic>
        <p:nvPicPr>
          <p:cNvPr id="7" name="Picture 6" descr="Screenshot 2026-10-25 2315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35" y="1682750"/>
            <a:ext cx="5120005" cy="31686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itya_corner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65760"/>
            <a:ext cx="169164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4048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A580C"/>
                </a:solidFill>
                <a:latin typeface="Calibri" panose="020F0502020204030204"/>
              </a:defRPr>
            </a:pPr>
            <a:r>
              <a:t>Conclusion and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3B68"/>
                </a:solidFill>
              </a:defRPr>
            </a:pPr>
            <a:r>
              <a:t>Conclusion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High Detection Accuracy: </a:t>
            </a:r>
            <a:r>
              <a:rPr sz="1200">
                <a:solidFill>
                  <a:srgbClr val="1E293B"/>
                </a:solidFill>
              </a:rPr>
              <a:t>Achieved 99.07% accuracy using Linear SVM on 44,898 benchmark articles.</a:t>
            </a:r>
            <a:endParaRPr sz="120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Multi-Model Redundancy: </a:t>
            </a:r>
            <a:r>
              <a:rPr sz="1200">
                <a:solidFill>
                  <a:srgbClr val="1E293B"/>
                </a:solidFill>
              </a:rPr>
              <a:t>Combining 3 distinct algorithms eliminates bias and prevents false alarms.</a:t>
            </a:r>
            <a:endParaRPr sz="120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Explainable Output: </a:t>
            </a:r>
            <a:r>
              <a:rPr sz="1200">
                <a:solidFill>
                  <a:srgbClr val="1E293B"/>
                </a:solidFill>
              </a:rPr>
              <a:t>The 0-100% Credibility Speedometer makes verdicts easy for everyone to understand.</a:t>
            </a:r>
            <a:endParaRPr sz="120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Dynamic Evaluation: </a:t>
            </a:r>
            <a:r>
              <a:rPr sz="1200">
                <a:solidFill>
                  <a:srgbClr val="1E293B"/>
                </a:solidFill>
              </a:rPr>
              <a:t>Live performance dashboard recalculates metrics dynamically as new news is tested.</a:t>
            </a:r>
            <a:endParaRPr sz="120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Fast Web Platform: </a:t>
            </a:r>
            <a:r>
              <a:rPr sz="1200">
                <a:solidFill>
                  <a:srgbClr val="1E293B"/>
                </a:solidFill>
              </a:rPr>
              <a:t>Delivered a working web app with sub-second response times (&lt;40ms).</a:t>
            </a:r>
            <a:endParaRPr sz="1200">
              <a:solidFill>
                <a:srgbClr val="1E293B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1E6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A580C"/>
                </a:solidFill>
              </a:defRPr>
            </a:pPr>
            <a:r>
              <a:t>Future Scope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Regional Indian Languages: </a:t>
            </a:r>
            <a:r>
              <a:rPr sz="1200">
                <a:solidFill>
                  <a:srgbClr val="1E293B"/>
                </a:solidFill>
              </a:rPr>
              <a:t>Extend pipeline to Telugu, Hindi, and Tamil using IndicBERT models.</a:t>
            </a:r>
            <a:endParaRPr sz="120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Deepfake Image/Video Detection: </a:t>
            </a:r>
            <a:r>
              <a:rPr sz="1200">
                <a:solidFill>
                  <a:srgbClr val="1E293B"/>
                </a:solidFill>
              </a:rPr>
              <a:t>Incorporate Computer Vision models to flag manipulated viral videos.</a:t>
            </a:r>
            <a:endParaRPr sz="120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Browser Extension: </a:t>
            </a:r>
            <a:r>
              <a:rPr sz="1200">
                <a:solidFill>
                  <a:srgbClr val="1E293B"/>
                </a:solidFill>
              </a:rPr>
              <a:t>Build a one-click Chrome extension to check news directly on Twitter and Facebook.</a:t>
            </a:r>
            <a:endParaRPr sz="120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WhatsApp Fact-Check Bot: </a:t>
            </a:r>
            <a:r>
              <a:rPr sz="1200">
                <a:solidFill>
                  <a:srgbClr val="1E293B"/>
                </a:solidFill>
              </a:rPr>
              <a:t>Allow users to forward suspicious messages to a bot for instant verification.</a:t>
            </a:r>
            <a:endParaRPr sz="1200">
              <a:solidFill>
                <a:srgbClr val="1E293B"/>
              </a:solidFill>
            </a:endParaRP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 Knowledge Graph Verification: </a:t>
            </a:r>
            <a:r>
              <a:rPr sz="1200">
                <a:solidFill>
                  <a:srgbClr val="1E293B"/>
                </a:solidFill>
              </a:rPr>
              <a:t>Cross-check extracted news facts against Google Fact Check API in real time.</a:t>
            </a:r>
            <a:endParaRPr sz="120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itya_corner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65760"/>
            <a:ext cx="169164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84048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A580C"/>
                </a:solidFill>
                <a:latin typeface="Calibri" panose="020F0502020204030204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EA580C"/>
                </a:solidFill>
              </a:rPr>
              <a:t>1. </a:t>
            </a:r>
            <a:r>
              <a:rPr sz="1300" b="1">
                <a:solidFill>
                  <a:srgbClr val="1E293B"/>
                </a:solidFill>
              </a:rPr>
              <a:t>H. Ahmed, I. Traore, and S. Saad, </a:t>
            </a:r>
            <a:r>
              <a:rPr sz="1300" i="1">
                <a:solidFill>
                  <a:srgbClr val="0F3B68"/>
                </a:solidFill>
              </a:rPr>
              <a:t>"Detection of Online Fake News Using N-Gram Analysis and Machine Learning Techniques," </a:t>
            </a:r>
            <a:r>
              <a:rPr sz="1200">
                <a:solidFill>
                  <a:srgbClr val="64748B"/>
                </a:solidFill>
              </a:rPr>
              <a:t>Intelligent, Secure, and Dependable Systems, Springer, 2017.</a:t>
            </a:r>
            <a:endParaRPr sz="1200">
              <a:solidFill>
                <a:srgbClr val="64748B"/>
              </a:solidFill>
            </a:endParaRP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EA580C"/>
                </a:solidFill>
              </a:rPr>
              <a:t>2. </a:t>
            </a:r>
            <a:r>
              <a:rPr sz="1300" b="1">
                <a:solidFill>
                  <a:srgbClr val="1E293B"/>
                </a:solidFill>
              </a:rPr>
              <a:t>S. Vosoughi, D. Roy, and S. Aral, </a:t>
            </a:r>
            <a:r>
              <a:rPr sz="1300" i="1">
                <a:solidFill>
                  <a:srgbClr val="0F3B68"/>
                </a:solidFill>
              </a:rPr>
              <a:t>"The spread of true and false news online," </a:t>
            </a:r>
            <a:r>
              <a:rPr sz="1200">
                <a:solidFill>
                  <a:srgbClr val="64748B"/>
                </a:solidFill>
              </a:rPr>
              <a:t>Science, vol. 359, no. 6380, pp. 1146-1151, Mar. 2018.</a:t>
            </a:r>
            <a:endParaRPr sz="1200">
              <a:solidFill>
                <a:srgbClr val="64748B"/>
              </a:solidFill>
            </a:endParaRP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EA580C"/>
                </a:solidFill>
              </a:rPr>
              <a:t>3. </a:t>
            </a:r>
            <a:r>
              <a:rPr sz="1300" b="1">
                <a:solidFill>
                  <a:srgbClr val="1E293B"/>
                </a:solidFill>
              </a:rPr>
              <a:t>F. Pedregosa et al., </a:t>
            </a:r>
            <a:r>
              <a:rPr sz="1300" i="1">
                <a:solidFill>
                  <a:srgbClr val="0F3B68"/>
                </a:solidFill>
              </a:rPr>
              <a:t>"Scikit-learn: Machine Learning in Python," </a:t>
            </a:r>
            <a:r>
              <a:rPr sz="1200">
                <a:solidFill>
                  <a:srgbClr val="64748B"/>
                </a:solidFill>
              </a:rPr>
              <a:t>Journal of Machine Learning Research, vol. 12, pp. 2825-2830, 2011.</a:t>
            </a:r>
            <a:endParaRPr sz="1200">
              <a:solidFill>
                <a:srgbClr val="64748B"/>
              </a:solidFill>
            </a:endParaRP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EA580C"/>
                </a:solidFill>
              </a:rPr>
              <a:t>4. </a:t>
            </a:r>
            <a:r>
              <a:rPr sz="1300" b="1">
                <a:solidFill>
                  <a:srgbClr val="1E293B"/>
                </a:solidFill>
              </a:rPr>
              <a:t>V. Perez-Rosas et al., </a:t>
            </a:r>
            <a:r>
              <a:rPr sz="1300" i="1">
                <a:solidFill>
                  <a:srgbClr val="0F3B68"/>
                </a:solidFill>
              </a:rPr>
              <a:t>"Automatic Detection of Fake News," </a:t>
            </a:r>
            <a:r>
              <a:rPr sz="1200">
                <a:solidFill>
                  <a:srgbClr val="64748B"/>
                </a:solidFill>
              </a:rPr>
              <a:t>Proceedings of the 27th International Conference on Computational Linguistics (COLING), pp. 3391-3401, 2018.</a:t>
            </a:r>
            <a:endParaRPr sz="1200">
              <a:solidFill>
                <a:srgbClr val="64748B"/>
              </a:solidFill>
            </a:endParaRP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EA580C"/>
                </a:solidFill>
              </a:rPr>
              <a:t>5. </a:t>
            </a:r>
            <a:r>
              <a:rPr sz="1300" b="1">
                <a:solidFill>
                  <a:srgbClr val="1E293B"/>
                </a:solidFill>
              </a:rPr>
              <a:t>C. Castillo, M. Mendoza, and B. Poblete, </a:t>
            </a:r>
            <a:r>
              <a:rPr sz="1300" i="1">
                <a:solidFill>
                  <a:srgbClr val="0F3B68"/>
                </a:solidFill>
              </a:rPr>
              <a:t>"Information Credibility on Twitter," </a:t>
            </a:r>
            <a:r>
              <a:rPr sz="1200">
                <a:solidFill>
                  <a:srgbClr val="64748B"/>
                </a:solidFill>
              </a:rPr>
              <a:t>Proceedings of the 20th International Conference on World Wide Web (WWW), pp. 675-684, 2011.</a:t>
            </a:r>
            <a:endParaRPr sz="120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itya_title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39" y="822960"/>
            <a:ext cx="4233672" cy="846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0"/>
            <a:ext cx="1036289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A580C"/>
                </a:solidFill>
                <a:latin typeface="Calibri" panose="020F0502020204030204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F3B68"/>
                </a:solidFill>
                <a:latin typeface="Calibri" panose="020F0502020204030204"/>
              </a:defRPr>
            </a:pPr>
            <a:r>
              <a:t>Questions &amp; Answers  |  Open for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840480"/>
            <a:ext cx="777240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09647" y="4023360"/>
            <a:ext cx="7772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</a:defRPr>
            </a:pPr>
            <a:r>
              <a:t>Fake News Detection System Using Machine Learning and NLP</a:t>
            </a:r>
          </a:p>
          <a:p>
            <a:pPr algn="ctr">
              <a:spcBef>
                <a:spcPts val="600"/>
              </a:spcBef>
              <a:defRPr sz="1350" b="1">
                <a:solidFill>
                  <a:srgbClr val="EA580C"/>
                </a:solidFill>
              </a:defRPr>
            </a:pPr>
            <a:r>
              <a:t>Department of Artificial Intelligence &amp; Machine Learning (AIML)</a:t>
            </a:r>
          </a:p>
          <a:p>
            <a:pPr algn="ctr">
              <a:defRPr sz="1250">
                <a:solidFill>
                  <a:srgbClr val="64748B"/>
                </a:solidFill>
              </a:defRPr>
            </a:pPr>
            <a:r>
              <a:t>Aditya University, Surampalem, Andhra Pradesh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0F3B68"/>
                </a:solidFill>
              </a:defRPr>
            </a:pPr>
            <a:r>
              <a:t>Team: P. Nehasri | M. Nithin | K. Vikas | R. Pranathi | Y. Chakradhar</a:t>
            </a:r>
          </a:p>
          <a:p>
            <a:pPr algn="ctr">
              <a:defRPr sz="1150">
                <a:solidFill>
                  <a:srgbClr val="1E293B"/>
                </a:solidFill>
              </a:defRPr>
            </a:pPr>
            <a:r>
              <a:t>Guide: P. Venkata Bala Annapurna, M.Tech (Ph.D), Asst. Prof, AIML Dept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12293</Words>
  <Application>WPS Presentation</Application>
  <PresentationFormat>On-screen Show (4:3)</PresentationFormat>
  <Paragraphs>296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Consolas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nehas</cp:lastModifiedBy>
  <cp:revision>2</cp:revision>
  <dcterms:created xsi:type="dcterms:W3CDTF">2013-01-27T09:14:00Z</dcterms:created>
  <dcterms:modified xsi:type="dcterms:W3CDTF">2026-10-25T19:00:18Z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6DDA23F7FBB84973807B4FD5D1446783_12</vt:lpwstr>
  </property>
  <property fmtid="{D5CDD505-2E9C-101B-9397-08002B2CF9AE}" pid="3" name="KSOProductBuildVer">
    <vt:lpwstr>1033-12.1.0.29162</vt:lpwstr>
  </property>
</Properties>
</file>